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8" r:id="rId4"/>
    <p:sldId id="258" r:id="rId5"/>
    <p:sldId id="259" r:id="rId6"/>
    <p:sldId id="260" r:id="rId7"/>
    <p:sldId id="279" r:id="rId8"/>
    <p:sldId id="280" r:id="rId9"/>
    <p:sldId id="261" r:id="rId10"/>
    <p:sldId id="262" r:id="rId11"/>
    <p:sldId id="263" r:id="rId12"/>
    <p:sldId id="281" r:id="rId13"/>
    <p:sldId id="264" r:id="rId14"/>
    <p:sldId id="265" r:id="rId15"/>
    <p:sldId id="266" r:id="rId16"/>
    <p:sldId id="283" r:id="rId17"/>
    <p:sldId id="267" r:id="rId18"/>
    <p:sldId id="268" r:id="rId19"/>
    <p:sldId id="269" r:id="rId20"/>
    <p:sldId id="270" r:id="rId21"/>
    <p:sldId id="271" r:id="rId22"/>
    <p:sldId id="284" r:id="rId23"/>
    <p:sldId id="274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8BDD3C-FB95-4A61-8BDC-8A4B78FB4CF7}" v="39" dt="2026-06-26T19:43:14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8:38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806 2 24575,'-18'-1'0,"1"1"0,-1 0 0,1 2 0,-1 0 0,1 1 0,0 1 0,0 0 0,-30 12 0,-50 18 0,78-30 0,0 2 0,1 0 0,-1 1 0,2 1 0,-1 1 0,-17 12 0,-55 39 0,54-37 0,0 2 0,2 1 0,-33 32 0,52-41 27,1 1 0,0 1-1,-12 25 1,-11 14-1499,28-46-5354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8:41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1 24575,'0'4'0,"0"5"0,0 6 0,0 4 0,-4-1 0,-1 0 0,-1 1 0,-2 2 0,-1 1 0,2 1 0,2 1 0,2 0 0,1 0 0,1 0 0,-3-4 0,-1-5-8191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8:44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1 24575,'-4'0'0,"-6"0"0,-5 0 0,-4 0 0,-2 0 0,-3 0 0,-1 0 0,0 0 0,0 0 0,1 0 0,-1 0 0,1 0 0,3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9:3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1 339 24575,'3'-26'0,"0"-1"0,2 0 0,1 1 0,1 0 0,1 1 0,17-36 0,12-39 0,-37 99 0,0 0 0,0 1 0,0-1 0,0 0 0,0 0 0,0 1 0,0-1 0,0 0 0,0 0 0,1 1 0,-1-1 0,0 0 0,1 0 0,-1 1 0,0-1 0,1 0 0,-1 1 0,1-1 0,-1 1 0,1-1 0,-1 0 0,1 1 0,0-1 0,-1 1 0,1 0 0,0-1 0,-1 1 0,1-1 0,0 1 0,-1 0 0,1 0 0,0-1 0,0 1 0,-1 0 0,1 0 0,1 0 0,0 1 0,-1 0 0,1 1 0,0-1 0,-1 1 0,0 0 0,1-1 0,-1 1 0,0 0 0,0 0 0,0 0 0,0 0 0,1 3 0,22 69 0,-13-25 0,-6-23 0,1 0 0,2 0 0,12 29 0,-18-51 0,0 0 0,0 0 0,1 0 0,-1 0 0,1 0 0,0-1 0,0 1 0,4 3 0,-6-7 0,-1 1 0,1-1 0,0 1 0,0-1 0,0 1 0,0-1 0,0 0 0,0 0 0,0 1 0,0-1 0,-1 0 0,1 0 0,0 0 0,0 0 0,0 0 0,0 0 0,0 0 0,0 0 0,0-1 0,0 1 0,0 0 0,0 0 0,0-1 0,0 1 0,-1-1 0,1 1 0,0-1 0,0 1 0,0-1 0,-1 1 0,1-1 0,0 0 0,-1 1 0,1-1 0,0 0 0,-1 0 0,1 1 0,-1-1 0,1 0 0,-1 0 0,0 0 0,1 0 0,-1-1 0,15-26 0,-2 0 0,16-54 0,-22 62 0,-6 18 0,-1 0 0,1 0 0,-1 0 0,1 1 0,-1-1 0,1 0 0,0 1 0,0-1 0,0 0 0,0 1 0,0-1 0,0 1 0,0 0 0,1-1 0,-1 1 0,0 0 0,1 0 0,-1-1 0,1 1 0,2-1 0,-3 2 0,0 0 0,0 1 0,0-1 0,0 0 0,1 0 0,-1 1 0,0-1 0,0 0 0,0 1 0,0-1 0,0 1 0,0 0 0,0-1 0,0 1 0,0 0 0,0 0 0,0-1 0,-1 1 0,1 0 0,0 0 0,-1 0 0,2 2 0,5 8 0,0 0 0,-2 1 0,10 23 0,6 23-455,3-1 0,32 56 0,-47-98-6371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9:33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 24575,'27'2'0,"-20"-1"0,-1 0 0,0-1 0,1 0 0,-1 0 0,1 0 0,-1 0 0,0-1 0,1 0 0,-1-1 0,0 1 0,0-1 0,1 0 0,9-6 0,-15 8 0,-1-1 0,0 1 0,1 0 0,-1 0 0,1-1 0,-1 1 0,0-1 0,1 1 0,-1 0 0,0-1 0,1 1 0,-1-1 0,0 1 0,0 0 0,1-1 0,-1 1 0,0-1 0,0 1 0,0-1 0,0 1 0,1-1 0,-1 1 0,0-1 0,0 1 0,0-1 0,0 1 0,0-1 0,0 1 0,-1-1 0,1 1 0,0-1 0,0 1 0,0-1 0,0 1 0,0-1 0,-1 1 0,1-1 0,0 1 0,-1-1 0,-22-10 0,-29 5 0,50 6 0,0 0 0,0-1 0,0 1 0,0 0 0,0 1 0,0-1 0,0 0 0,0 1 0,0-1 0,0 1 0,0-1 0,1 1 0,-1 0 0,0 0 0,0 0 0,1 0 0,-1 0 0,0 0 0,1 0 0,-1 1 0,1-1 0,0 0 0,-1 1 0,1-1 0,0 1 0,0 0 0,0-1 0,0 1 0,0 0 0,0 0 0,1 0 0,-1-1 0,1 1 0,-1 0 0,1 0 0,-1 0 0,1 0 0,0 0 0,0 0 0,0 0 0,1 2 0,0 3 0,0-1 0,1 0 0,0 0 0,0 0 0,1 0 0,-1 0 0,2 0 0,-1-1 0,0 1 0,1-1 0,6 7 0,-7-8 9,1-1 1,1 1-1,-1 0 0,0-1 0,1 0 1,0 0-1,0 0 0,0-1 0,0 0 0,0 0 1,0 0-1,10 2 0,-1-2-380,1 0-1,-1-1 1,23-2 0,-16 1-6455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8:58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595 0 24575,'0'29'0,"-1"0"0,-1 0 0,-2 0 0,-12 47 0,11-61 0,0 0 0,-1-1 0,-1 0 0,0 0 0,0-1 0,-1 0 0,-1 0 0,-1-1 0,0 0 0,-16 16 0,-24 20 0,25-22 0,-45 34 0,-76 41 120,123-87-417,-1-1 0,0-1 0,0-2 0,-42 13 0,46-18-6529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9:01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0 24575,'-1'4'0,"-1"0"0,0 0 0,1 0 0,-2 0 0,1-1 0,0 1 0,-1-1 0,0 1 0,0-1 0,0 0 0,0 0 0,-5 4 0,-8 8 0,-52 63 0,56-66-29,1 1 0,0 1 0,-12 20 0,7-11-1220,7-10-5577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9:1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285 173 24575,'-10'-2'0,"1"0"0,0-1 0,0 1 0,0-2 0,0 1 0,0-1 0,1-1 0,0 0 0,-16-11 0,-2 0 0,-13-9-682,-60-47-1,82 58-6143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9:15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0 222 24575,'0'-4'0,"0"-5"0,0-6 0,4-4 0,2-2 0,-1-3 0,4 3 0,-1 2 0,3-1 0,0-1 0,1 4 0,0-1 0,-3 5-8191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10:06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1 339 24575,'3'-26'0,"0"-1"0,2 0 0,1 1 0,1 0 0,1 1 0,17-36 0,12-39 0,-37 99 0,0 0 0,0 1 0,0-1 0,0 0 0,0 0 0,0 1 0,0-1 0,0 0 0,0 0 0,1 1 0,-1-1 0,0 0 0,1 0 0,-1 1 0,0-1 0,1 0 0,-1 1 0,1-1 0,-1 1 0,1-1 0,-1 0 0,1 1 0,0-1 0,-1 1 0,1 0 0,0-1 0,-1 1 0,1-1 0,0 1 0,-1 0 0,1 0 0,0-1 0,0 1 0,-1 0 0,1 0 0,1 0 0,0 1 0,-1 0 0,1 1 0,0-1 0,-1 1 0,0 0 0,1-1 0,-1 1 0,0 0 0,0 0 0,0 0 0,0 0 0,1 3 0,22 69 0,-13-25 0,-6-23 0,1 0 0,2 0 0,12 29 0,-18-51 0,0 0 0,0 0 0,1 0 0,-1 0 0,1 0 0,0-1 0,0 1 0,4 3 0,-6-7 0,-1 1 0,1-1 0,0 1 0,0-1 0,0 1 0,0-1 0,0 0 0,0 0 0,0 1 0,0-1 0,-1 0 0,1 0 0,0 0 0,0 0 0,0 0 0,0 0 0,0 0 0,0 0 0,0-1 0,0 1 0,0 0 0,0 0 0,0-1 0,0 1 0,-1-1 0,1 1 0,0-1 0,0 1 0,0-1 0,-1 1 0,1-1 0,0 0 0,-1 1 0,1-1 0,0 0 0,-1 0 0,1 1 0,-1-1 0,1 0 0,-1 0 0,0 0 0,1 0 0,-1-1 0,15-26 0,-2 0 0,16-54 0,-22 62 0,-6 18 0,-1 0 0,1 0 0,-1 0 0,1 1 0,-1-1 0,1 0 0,0 1 0,0-1 0,0 0 0,0 1 0,0-1 0,0 1 0,0 0 0,1-1 0,-1 1 0,0 0 0,1 0 0,-1-1 0,1 1 0,2-1 0,-3 2 0,0 0 0,0 1 0,0-1 0,0 0 0,1 0 0,-1 1 0,0-1 0,0 0 0,0 1 0,0-1 0,0 1 0,0 0 0,0-1 0,0 1 0,0 0 0,0 0 0,0-1 0,-1 1 0,1 0 0,0 0 0,-1 0 0,2 2 0,5 8 0,0 0 0,-2 1 0,10 23 0,6 23-455,3-1 0,32 56 0,-47-98-6371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10:06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 24575,'27'2'0,"-20"-1"0,-1 0 0,0-1 0,1 0 0,-1 0 0,1 0 0,-1 0 0,0-1 0,1 0 0,-1-1 0,0 1 0,0-1 0,1 0 0,9-6 0,-15 8 0,-1-1 0,0 1 0,1 0 0,-1 0 0,1-1 0,-1 1 0,0-1 0,1 1 0,-1 0 0,0-1 0,1 1 0,-1-1 0,0 1 0,0 0 0,1-1 0,-1 1 0,0-1 0,0 1 0,0-1 0,0 1 0,1-1 0,-1 1 0,0-1 0,0 1 0,0-1 0,0 1 0,0-1 0,0 1 0,-1-1 0,1 1 0,0-1 0,0 1 0,0-1 0,0 1 0,0-1 0,-1 1 0,1-1 0,0 1 0,-1-1 0,-22-10 0,-29 5 0,50 6 0,0 0 0,0-1 0,0 1 0,0 0 0,0 1 0,0-1 0,0 0 0,0 1 0,0-1 0,0 1 0,0-1 0,1 1 0,-1 0 0,0 0 0,0 0 0,1 0 0,-1 0 0,0 0 0,1 0 0,-1 1 0,1-1 0,0 0 0,-1 1 0,1-1 0,0 1 0,0 0 0,0-1 0,0 1 0,0 0 0,0 0 0,1 0 0,-1-1 0,1 1 0,-1 0 0,1 0 0,-1 0 0,1 0 0,0 0 0,0 0 0,0 0 0,1 2 0,0 3 0,0-1 0,1 0 0,0 0 0,0 0 0,1 0 0,-1 0 0,2 0 0,-1-1 0,0 1 0,1-1 0,6 7 0,-7-8 9,1-1 1,1 1-1,-1 0 0,0-1 0,1 0 1,0 0-1,0 0 0,0-1 0,0 0 0,0 0 1,0 0-1,10 2 0,-1-2-380,1 0-1,-1-1 1,23-2 0,-16 1-6455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10:39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0 24575,'0'67'0,"14"92"0,15 93 0,-27-229 0,48 612 0,-50 627 0,0-1260 0,0 1 0,0 0 0,0 0 0,0 0 0,-1 0 0,1-1 0,-1 1 0,1 0 0,-1 0 0,0-1 0,0 1 0,0 0 0,-1-1 0,1 1 0,-3 2 0,4-5 0,0 1 0,-1-1 0,0 0 0,1 0 0,-1 1 0,1-1 0,-1 0 0,1 0 0,-1 1 0,1-1 0,-1 0 0,0 0 0,1 0 0,-1 0 0,1 0 0,-1 0 0,0 0 0,1 0 0,-1 0 0,1 0 0,-1-1 0,1 1 0,-1 0 0,0 0 0,0-1 0,-21-19 0,-57-73 0,73 87 0,0 0 0,0 1 0,-1 0 0,0 0 0,0 0 0,0 1 0,0 0 0,-1 0 0,1 1 0,-10-3 0,8 3 0,1-1 0,0 1 0,0-1 0,0-1 0,0 1 0,1-1 0,-14-12 0,21 17 0,-1 0 0,1 0 0,0-1 0,-1 1 0,1 0 0,0 0 0,0 0 0,-1 0 0,1-1 0,0 1 0,0 0 0,-1 0 0,1 0 0,0-1 0,0 1 0,0 0 0,-1 0 0,1-1 0,0 1 0,0 0 0,0-1 0,0 1 0,0 0 0,0 0 0,-1-1 0,1 1 0,0 0 0,0-1 0,0 1 0,0 0 0,0-1 0,0 1 0,0 0 0,0-1 0,0 1 0,1 0 0,-1 0 0,0-1 0,0 1 0,0 0 0,0-1 0,0 1 0,0 0 0,1 0 0,-1-1 0,18 3 0,23 15 0,-23-4 0,0 1 0,-1 1 0,0 1 0,-2 0 0,22 29 0,35 35 0,-67-75 0,-2-2 0,1 1 0,-1-1 0,1 0 0,0 0 0,0 0 0,0 0 0,1-1 0,4 3 0,-7-5 0,0 0 0,0 1 0,0-1 0,0 0 0,0-1 0,0 1 0,0 0 0,0 0 0,0-1 0,0 1 0,0-1 0,0 0 0,0 1 0,0-1 0,-1 0 0,1 0 0,0 0 0,-1-1 0,1 1 0,0 0 0,-1 0 0,0-1 0,3-2 0,12-14 0,0-1 0,20-32 0,-25 34 0,0 0 0,2 1 0,0 0 0,23-21 0,-27 30 0,-1 0 0,1-1 0,-2-1 0,1 1 0,-1-1 0,10-18 0,-58 52 0,10 1 64,-41 46 0,-21 18-1557,82-82-5333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10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3F85-FC49-FD9A-7B80-546EEF6A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8C5C2-CD93-E00F-C86A-FA99240DD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43E56-F767-5FE4-8BE1-CA5366AE0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D4E92-A3B1-266C-AD17-55C339534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38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973A3-66F7-2048-F93E-434EC2EB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34B6A-9019-4EB8-0F74-5F745037C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547B1-0E79-0956-33BF-19D9AE1F3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9E983-7B47-9C4E-079D-EDC289151F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84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7EC3-9CAE-FE54-6D2B-09DF4FDB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9E3F3-3656-D57C-6D1A-C8C717DDE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0DC1E-9C00-889F-9F31-81B13BF1E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E0237-0D8C-3E09-64F8-7E7ADFD0A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35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B82F4-AD42-8FE0-1C86-D63BC6B4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8BFB3-ED5F-FBF2-D8F6-ADBFD43E1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A40A9-1A39-C0C9-9F36-B22CFC930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B0EFC-555C-3B10-EC6C-17C83D48BF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40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E32F5-CB6A-1E42-06E8-36217AAD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F47A21-4399-C224-DB89-D4E1BEE51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0CDDF-AA71-F0A4-C033-3FB69A992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08605-A9E1-EDF4-74A6-44384A064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55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070F-BB30-99B6-3651-3612EDE9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70383-6DE7-EC6F-D3D8-5B3EB3F4B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57F05-9C06-D7D9-1A77-D05AC5D4D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9F5E3-9FF7-7DDE-3918-151EC29EAA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02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ricearl/llm-conversations/blob/main/LLM_Slide_Deck_Draf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5.xml"/><Relationship Id="rId18" Type="http://schemas.openxmlformats.org/officeDocument/2006/relationships/customXml" Target="../ink/ink7.xml"/><Relationship Id="rId26" Type="http://schemas.openxmlformats.org/officeDocument/2006/relationships/customXml" Target="../ink/ink12.xml"/><Relationship Id="rId3" Type="http://schemas.openxmlformats.org/officeDocument/2006/relationships/hyperlink" Target="https://www.writethedocs.org/guide/docs-as-code/" TargetMode="External"/><Relationship Id="rId21" Type="http://schemas.openxmlformats.org/officeDocument/2006/relationships/image" Target="../media/image10.png"/><Relationship Id="rId7" Type="http://schemas.openxmlformats.org/officeDocument/2006/relationships/customXml" Target="../ink/ink2.xml"/><Relationship Id="rId12" Type="http://schemas.openxmlformats.org/officeDocument/2006/relationships/image" Target="../media/image5.png"/><Relationship Id="rId17" Type="http://schemas.openxmlformats.org/officeDocument/2006/relationships/image" Target="../media/image8.png"/><Relationship Id="rId25" Type="http://schemas.openxmlformats.org/officeDocument/2006/relationships/customXml" Target="../ink/ink11.xml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customXml" Target="../ink/ink4.xml"/><Relationship Id="rId24" Type="http://schemas.openxmlformats.org/officeDocument/2006/relationships/customXml" Target="../ink/ink10.xml"/><Relationship Id="rId5" Type="http://schemas.openxmlformats.org/officeDocument/2006/relationships/customXml" Target="../ink/ink1.xml"/><Relationship Id="rId15" Type="http://schemas.openxmlformats.org/officeDocument/2006/relationships/image" Target="../media/image2.jpg"/><Relationship Id="rId23" Type="http://schemas.openxmlformats.org/officeDocument/2006/relationships/image" Target="../media/image11.png"/><Relationship Id="rId10" Type="http://schemas.openxmlformats.org/officeDocument/2006/relationships/image" Target="../media/image4.png"/><Relationship Id="rId19" Type="http://schemas.openxmlformats.org/officeDocument/2006/relationships/image" Target="../media/image9.png"/><Relationship Id="rId4" Type="http://schemas.openxmlformats.org/officeDocument/2006/relationships/image" Target="../media/image1.jpg"/><Relationship Id="rId9" Type="http://schemas.openxmlformats.org/officeDocument/2006/relationships/customXml" Target="../ink/ink3.xml"/><Relationship Id="rId14" Type="http://schemas.openxmlformats.org/officeDocument/2006/relationships/image" Target="../media/image6.png"/><Relationship Id="rId22" Type="http://schemas.openxmlformats.org/officeDocument/2006/relationships/customXml" Target="../ink/ink9.xml"/><Relationship Id="rId27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lmstxt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s.md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mh-dsst/xnat-bids-cli/blob/main/AGENTS.m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nimh-dsst/xnat-bids-cli/blob/main/.claude/CLAUDE.m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skills.io/specificatio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scom11/fmriprep-skill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neurostars.org/t/ive-written-fmriprep-skills-a-lightweight-harness-to-help-beginners-use-fmriprep-more-easily/36210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agol-python-for-neuroscientists.github.io/textbook-public/classes/class_4/class_4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claude.com/docs/en/hooks-guide#how-hooks-work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agol-python-for-neuroscientists.github.io/textbook-public/classes/class_4/class_4.htm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yllago.dev/getting-started/quick-start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yllago.dev/using-syllago/tui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ossaitools.com/skills" TargetMode="External"/><Relationship Id="rId4" Type="http://schemas.openxmlformats.org/officeDocument/2006/relationships/hyperlink" Target="https://syllago.dev/using-syllago/collections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94560"/>
            <a:ext cx="109728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DSST Lunch &amp; Learn 2026, by Eric Earl &amp; Claude Opus 4.7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606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LLM agents do better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to get yourself in trouble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5760720"/>
            <a:ext cx="1033272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576072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llms.txt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5760720"/>
            <a:ext cx="1133856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42032" y="5760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13048" y="5760720"/>
            <a:ext cx="832104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13048" y="576072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2312" y="5760720"/>
            <a:ext cx="7315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5760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50992" y="5760720"/>
            <a:ext cx="932688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50992" y="57607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</a:t>
            </a:r>
            <a:endParaRPr lang="en-US" sz="1100" dirty="0"/>
          </a:p>
        </p:txBody>
      </p:sp>
      <p:sp>
        <p:nvSpPr>
          <p:cNvPr id="20" name="Text 36">
            <a:extLst>
              <a:ext uri="{FF2B5EF4-FFF2-40B4-BE49-F238E27FC236}">
                <a16:creationId xmlns:a16="http://schemas.microsoft.com/office/drawing/2014/main" id="{BBF167A3-3ABA-CE22-1369-B3218D350622}"/>
              </a:ext>
            </a:extLst>
          </p:cNvPr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23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7B0017-146F-AAA0-C2E6-CF32417DDC9D}"/>
              </a:ext>
            </a:extLst>
          </p:cNvPr>
          <p:cNvSpPr txBox="1"/>
          <p:nvPr/>
        </p:nvSpPr>
        <p:spPr>
          <a:xfrm>
            <a:off x="396240" y="6488668"/>
            <a:ext cx="10938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Reference: </a:t>
            </a:r>
            <a:r>
              <a:rPr lang="en-US" sz="1400" b="1" dirty="0">
                <a:solidFill>
                  <a:schemeClr val="bg1"/>
                </a:solidFill>
                <a:hlinkClick r:id="rId3"/>
              </a:rPr>
              <a:t>https://github.com/ericearl/llm-conversations/blob/main/LLM_Slide_Deck_Draft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23</a:t>
            </a:r>
            <a:endParaRPr 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D0A98E-022A-BD6A-444C-E5BEB9665975}"/>
              </a:ext>
            </a:extLst>
          </p:cNvPr>
          <p:cNvSpPr txBox="1"/>
          <p:nvPr/>
        </p:nvSpPr>
        <p:spPr>
          <a:xfrm>
            <a:off x="548641" y="1234440"/>
            <a:ext cx="11247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 went to a small conference called </a:t>
            </a:r>
            <a:r>
              <a:rPr lang="en-US" sz="2000" b="1" dirty="0"/>
              <a:t>Write The Docs Portland 2026</a:t>
            </a:r>
            <a:r>
              <a:rPr lang="en-US" sz="2000" dirty="0"/>
              <a:t> (400 in-person, 175 virtual attendees)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 participated in </a:t>
            </a:r>
            <a:r>
              <a:rPr lang="en-US" sz="2000" b="1" dirty="0"/>
              <a:t>Writing Day</a:t>
            </a:r>
            <a:r>
              <a:rPr lang="en-US" sz="2000" dirty="0"/>
              <a:t> and many </a:t>
            </a:r>
            <a:r>
              <a:rPr lang="en-US" sz="2000" b="1" dirty="0"/>
              <a:t>Unconference</a:t>
            </a:r>
            <a:r>
              <a:rPr lang="en-US" sz="2000" dirty="0"/>
              <a:t>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 asked many questions and noticed a trend of tech writers using LLMs for Docs-As-Code workflows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83C8C7-5922-E65C-257E-611A8A6D90E3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https://www.writethedocs.org/guide/docs-as-code/</a:t>
            </a:r>
            <a:endParaRPr lang="en-US" dirty="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81FBDAE-5F99-6383-2D2B-4AB27031BD38}"/>
              </a:ext>
            </a:extLst>
          </p:cNvPr>
          <p:cNvGrpSpPr/>
          <p:nvPr/>
        </p:nvGrpSpPr>
        <p:grpSpPr>
          <a:xfrm>
            <a:off x="1335988" y="2224146"/>
            <a:ext cx="9489543" cy="4264522"/>
            <a:chOff x="1625418" y="2193191"/>
            <a:chExt cx="9489543" cy="426452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B224ADAB-F7F8-4DB7-8429-955E5DF2E378}"/>
                </a:ext>
              </a:extLst>
            </p:cNvPr>
            <p:cNvGrpSpPr/>
            <p:nvPr/>
          </p:nvGrpSpPr>
          <p:grpSpPr>
            <a:xfrm>
              <a:off x="1625418" y="2342043"/>
              <a:ext cx="3456780" cy="4073522"/>
              <a:chOff x="1440180" y="2379695"/>
              <a:chExt cx="3456780" cy="4073522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430FCA19-7725-100B-AFAD-7229B29E2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0180" y="2654885"/>
                <a:ext cx="3429000" cy="3429000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44D89BC-9CB1-64C0-8E9A-621FDFCD2448}"/>
                  </a:ext>
                </a:extLst>
              </p:cNvPr>
              <p:cNvSpPr txBox="1"/>
              <p:nvPr/>
            </p:nvSpPr>
            <p:spPr>
              <a:xfrm>
                <a:off x="1440180" y="6083885"/>
                <a:ext cx="34567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Writing Day with </a:t>
                </a:r>
                <a:r>
                  <a:rPr lang="en-US" dirty="0" err="1"/>
                  <a:t>Syllago</a:t>
                </a:r>
                <a:r>
                  <a:rPr lang="en-US" dirty="0"/>
                  <a:t> developer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997AB4B6-B760-66C5-112B-D2DC8B9794C8}"/>
                  </a:ext>
                </a:extLst>
              </p:cNvPr>
              <p:cNvGrpSpPr/>
              <p:nvPr/>
            </p:nvGrpSpPr>
            <p:grpSpPr>
              <a:xfrm>
                <a:off x="1488063" y="2432255"/>
                <a:ext cx="306720" cy="175320"/>
                <a:chOff x="1488063" y="2432255"/>
                <a:chExt cx="306720" cy="1753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5">
                  <p14:nvContentPartPr>
                    <p14:cNvPr id="49" name="Ink 48">
                      <a:extLst>
                        <a:ext uri="{FF2B5EF4-FFF2-40B4-BE49-F238E27FC236}">
                          <a16:creationId xmlns:a16="http://schemas.microsoft.com/office/drawing/2014/main" id="{33BDFC5F-9115-7201-9B42-85AFB947331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04263" y="2432255"/>
                    <a:ext cx="290520" cy="175320"/>
                  </p14:xfrm>
                </p:contentPart>
              </mc:Choice>
              <mc:Fallback xmlns="">
                <p:pic>
                  <p:nvPicPr>
                    <p:cNvPr id="49" name="Ink 48">
                      <a:extLst>
                        <a:ext uri="{FF2B5EF4-FFF2-40B4-BE49-F238E27FC236}">
                          <a16:creationId xmlns:a16="http://schemas.microsoft.com/office/drawing/2014/main" id="{33BDFC5F-9115-7201-9B42-85AFB9473316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498143" y="2426135"/>
                      <a:ext cx="302760" cy="187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">
                  <p14:nvContentPartPr>
                    <p14:cNvPr id="50" name="Ink 49">
                      <a:extLst>
                        <a:ext uri="{FF2B5EF4-FFF2-40B4-BE49-F238E27FC236}">
                          <a16:creationId xmlns:a16="http://schemas.microsoft.com/office/drawing/2014/main" id="{649ADDEA-192F-7B17-19F3-72D2992050A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88063" y="2492735"/>
                    <a:ext cx="21960" cy="108000"/>
                  </p14:xfrm>
                </p:contentPart>
              </mc:Choice>
              <mc:Fallback xmlns="">
                <p:pic>
                  <p:nvPicPr>
                    <p:cNvPr id="50" name="Ink 49">
                      <a:extLst>
                        <a:ext uri="{FF2B5EF4-FFF2-40B4-BE49-F238E27FC236}">
                          <a16:creationId xmlns:a16="http://schemas.microsoft.com/office/drawing/2014/main" id="{649ADDEA-192F-7B17-19F3-72D2992050A3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1481943" y="2486615"/>
                      <a:ext cx="34200" cy="1202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">
                  <p14:nvContentPartPr>
                    <p14:cNvPr id="52" name="Ink 51">
                      <a:extLst>
                        <a:ext uri="{FF2B5EF4-FFF2-40B4-BE49-F238E27FC236}">
                          <a16:creationId xmlns:a16="http://schemas.microsoft.com/office/drawing/2014/main" id="{0A399477-A4F1-9739-42D3-FD37C1E4479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10383" y="2604695"/>
                    <a:ext cx="94320" cy="360"/>
                  </p14:xfrm>
                </p:contentPart>
              </mc:Choice>
              <mc:Fallback xmlns="">
                <p:pic>
                  <p:nvPicPr>
                    <p:cNvPr id="52" name="Ink 51">
                      <a:extLst>
                        <a:ext uri="{FF2B5EF4-FFF2-40B4-BE49-F238E27FC236}">
                          <a16:creationId xmlns:a16="http://schemas.microsoft.com/office/drawing/2014/main" id="{0A399477-A4F1-9739-42D3-FD37C1E4479C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504263" y="2598575"/>
                      <a:ext cx="106560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3E419895-61E9-60F8-36E4-1F3B33539FFD}"/>
                  </a:ext>
                </a:extLst>
              </p:cNvPr>
              <p:cNvGrpSpPr/>
              <p:nvPr/>
            </p:nvGrpSpPr>
            <p:grpSpPr>
              <a:xfrm>
                <a:off x="1828263" y="2379695"/>
                <a:ext cx="309600" cy="174960"/>
                <a:chOff x="1828263" y="2379695"/>
                <a:chExt cx="309600" cy="17496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65" name="Ink 64">
                      <a:extLst>
                        <a:ext uri="{FF2B5EF4-FFF2-40B4-BE49-F238E27FC236}">
                          <a16:creationId xmlns:a16="http://schemas.microsoft.com/office/drawing/2014/main" id="{74484506-D7AB-0B1E-C882-02FB46BDB83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828263" y="2379695"/>
                    <a:ext cx="187200" cy="159840"/>
                  </p14:xfrm>
                </p:contentPart>
              </mc:Choice>
              <mc:Fallback xmlns="">
                <p:pic>
                  <p:nvPicPr>
                    <p:cNvPr id="65" name="Ink 64">
                      <a:extLst>
                        <a:ext uri="{FF2B5EF4-FFF2-40B4-BE49-F238E27FC236}">
                          <a16:creationId xmlns:a16="http://schemas.microsoft.com/office/drawing/2014/main" id="{74484506-D7AB-0B1E-C882-02FB46BDB838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1822143" y="2373575"/>
                      <a:ext cx="199440" cy="172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">
                  <p14:nvContentPartPr>
                    <p14:cNvPr id="66" name="Ink 65">
                      <a:extLst>
                        <a:ext uri="{FF2B5EF4-FFF2-40B4-BE49-F238E27FC236}">
                          <a16:creationId xmlns:a16="http://schemas.microsoft.com/office/drawing/2014/main" id="{9FD1ADE5-25CE-CDE7-8672-E5C189BA9FE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061543" y="2492375"/>
                    <a:ext cx="76320" cy="62280"/>
                  </p14:xfrm>
                </p:contentPart>
              </mc:Choice>
              <mc:Fallback xmlns="">
                <p:pic>
                  <p:nvPicPr>
                    <p:cNvPr id="66" name="Ink 65">
                      <a:extLst>
                        <a:ext uri="{FF2B5EF4-FFF2-40B4-BE49-F238E27FC236}">
                          <a16:creationId xmlns:a16="http://schemas.microsoft.com/office/drawing/2014/main" id="{9FD1ADE5-25CE-CDE7-8672-E5C189BA9FE1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2055423" y="2486255"/>
                      <a:ext cx="88560" cy="745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E5C5EB1-4B3A-70FF-EF5B-369DC90C246D}"/>
                </a:ext>
              </a:extLst>
            </p:cNvPr>
            <p:cNvGrpSpPr/>
            <p:nvPr/>
          </p:nvGrpSpPr>
          <p:grpSpPr>
            <a:xfrm>
              <a:off x="5493679" y="2193191"/>
              <a:ext cx="5621282" cy="4264522"/>
              <a:chOff x="6144421" y="2181998"/>
              <a:chExt cx="5621282" cy="4264522"/>
            </a:xfrm>
          </p:grpSpPr>
          <p:pic>
            <p:nvPicPr>
              <p:cNvPr id="42" name="Picture 41" descr="A group of people sitting around a table&#10;&#10;AI-generated content may be incorrect.">
                <a:extLst>
                  <a:ext uri="{FF2B5EF4-FFF2-40B4-BE49-F238E27FC236}">
                    <a16:creationId xmlns:a16="http://schemas.microsoft.com/office/drawing/2014/main" id="{47B2FB95-8F38-93F8-172D-0F5CA3521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72201" y="2654885"/>
                <a:ext cx="5143500" cy="3429000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BA0B51D-DF65-0FCD-BA13-619DAD5A79DD}"/>
                  </a:ext>
                </a:extLst>
              </p:cNvPr>
              <p:cNvSpPr txBox="1"/>
              <p:nvPr/>
            </p:nvSpPr>
            <p:spPr>
              <a:xfrm>
                <a:off x="6144421" y="6077188"/>
                <a:ext cx="3604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API and AI roundtable Unconference</a:t>
                </a: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DC9DADD0-1F55-48B4-C79E-1054CF784FA8}"/>
                  </a:ext>
                </a:extLst>
              </p:cNvPr>
              <p:cNvGrpSpPr/>
              <p:nvPr/>
            </p:nvGrpSpPr>
            <p:grpSpPr>
              <a:xfrm>
                <a:off x="11353143" y="5107055"/>
                <a:ext cx="223560" cy="311040"/>
                <a:chOff x="11353143" y="5107055"/>
                <a:chExt cx="223560" cy="31104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54" name="Ink 53">
                      <a:extLst>
                        <a:ext uri="{FF2B5EF4-FFF2-40B4-BE49-F238E27FC236}">
                          <a16:creationId xmlns:a16="http://schemas.microsoft.com/office/drawing/2014/main" id="{6DB01D1C-81D8-1B98-1200-E88B1D35E46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62143" y="5107055"/>
                    <a:ext cx="214560" cy="240480"/>
                  </p14:xfrm>
                </p:contentPart>
              </mc:Choice>
              <mc:Fallback xmlns="">
                <p:pic>
                  <p:nvPicPr>
                    <p:cNvPr id="54" name="Ink 53">
                      <a:extLst>
                        <a:ext uri="{FF2B5EF4-FFF2-40B4-BE49-F238E27FC236}">
                          <a16:creationId xmlns:a16="http://schemas.microsoft.com/office/drawing/2014/main" id="{6DB01D1C-81D8-1B98-1200-E88B1D35E469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11356023" y="5100935"/>
                      <a:ext cx="226800" cy="2527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55" name="Ink 54">
                      <a:extLst>
                        <a:ext uri="{FF2B5EF4-FFF2-40B4-BE49-F238E27FC236}">
                          <a16:creationId xmlns:a16="http://schemas.microsoft.com/office/drawing/2014/main" id="{11EFDBD6-240A-41E2-A86A-EC7CF98224D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65743" y="5244935"/>
                    <a:ext cx="73080" cy="91080"/>
                  </p14:xfrm>
                </p:contentPart>
              </mc:Choice>
              <mc:Fallback xmlns="">
                <p:pic>
                  <p:nvPicPr>
                    <p:cNvPr id="55" name="Ink 54">
                      <a:extLst>
                        <a:ext uri="{FF2B5EF4-FFF2-40B4-BE49-F238E27FC236}">
                          <a16:creationId xmlns:a16="http://schemas.microsoft.com/office/drawing/2014/main" id="{11EFDBD6-240A-41E2-A86A-EC7CF98224D3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11359623" y="5238815"/>
                      <a:ext cx="85320" cy="103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">
                  <p14:nvContentPartPr>
                    <p14:cNvPr id="61" name="Ink 60">
                      <a:extLst>
                        <a:ext uri="{FF2B5EF4-FFF2-40B4-BE49-F238E27FC236}">
                          <a16:creationId xmlns:a16="http://schemas.microsoft.com/office/drawing/2014/main" id="{0AC4201F-8A2E-2FD0-C800-8B232C7C88A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53143" y="5355455"/>
                    <a:ext cx="102960" cy="62640"/>
                  </p14:xfrm>
                </p:contentPart>
              </mc:Choice>
              <mc:Fallback xmlns="">
                <p:pic>
                  <p:nvPicPr>
                    <p:cNvPr id="61" name="Ink 60">
                      <a:extLst>
                        <a:ext uri="{FF2B5EF4-FFF2-40B4-BE49-F238E27FC236}">
                          <a16:creationId xmlns:a16="http://schemas.microsoft.com/office/drawing/2014/main" id="{0AC4201F-8A2E-2FD0-C800-8B232C7C88A1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11347023" y="5349335"/>
                      <a:ext cx="115200" cy="748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">
                  <p14:nvContentPartPr>
                    <p14:cNvPr id="63" name="Ink 62">
                      <a:extLst>
                        <a:ext uri="{FF2B5EF4-FFF2-40B4-BE49-F238E27FC236}">
                          <a16:creationId xmlns:a16="http://schemas.microsoft.com/office/drawing/2014/main" id="{7204D249-5F4B-A87D-339D-33C6BBDD974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60703" y="5276975"/>
                    <a:ext cx="31320" cy="80280"/>
                  </p14:xfrm>
                </p:contentPart>
              </mc:Choice>
              <mc:Fallback xmlns="">
                <p:pic>
                  <p:nvPicPr>
                    <p:cNvPr id="63" name="Ink 62">
                      <a:extLst>
                        <a:ext uri="{FF2B5EF4-FFF2-40B4-BE49-F238E27FC236}">
                          <a16:creationId xmlns:a16="http://schemas.microsoft.com/office/drawing/2014/main" id="{7204D249-5F4B-A87D-339D-33C6BBDD974C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11354583" y="5270855"/>
                      <a:ext cx="43560" cy="925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469F4300-99DF-74F6-07C4-75523B524076}"/>
                  </a:ext>
                </a:extLst>
              </p:cNvPr>
              <p:cNvGrpSpPr/>
              <p:nvPr/>
            </p:nvGrpSpPr>
            <p:grpSpPr>
              <a:xfrm>
                <a:off x="11456103" y="4847705"/>
                <a:ext cx="309600" cy="174960"/>
                <a:chOff x="1828263" y="2379695"/>
                <a:chExt cx="309600" cy="17496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4">
                  <p14:nvContentPartPr>
                    <p14:cNvPr id="74" name="Ink 73">
                      <a:extLst>
                        <a:ext uri="{FF2B5EF4-FFF2-40B4-BE49-F238E27FC236}">
                          <a16:creationId xmlns:a16="http://schemas.microsoft.com/office/drawing/2014/main" id="{1A391D2F-EBD3-8EA8-3E6D-E9572B39270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828263" y="2379695"/>
                    <a:ext cx="187200" cy="159840"/>
                  </p14:xfrm>
                </p:contentPart>
              </mc:Choice>
              <mc:Fallback xmlns="">
                <p:pic>
                  <p:nvPicPr>
                    <p:cNvPr id="74" name="Ink 73">
                      <a:extLst>
                        <a:ext uri="{FF2B5EF4-FFF2-40B4-BE49-F238E27FC236}">
                          <a16:creationId xmlns:a16="http://schemas.microsoft.com/office/drawing/2014/main" id="{1A391D2F-EBD3-8EA8-3E6D-E9572B39270E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1822143" y="2373575"/>
                      <a:ext cx="199440" cy="172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">
                  <p14:nvContentPartPr>
                    <p14:cNvPr id="75" name="Ink 74">
                      <a:extLst>
                        <a:ext uri="{FF2B5EF4-FFF2-40B4-BE49-F238E27FC236}">
                          <a16:creationId xmlns:a16="http://schemas.microsoft.com/office/drawing/2014/main" id="{67B5C94E-2564-6C79-53BB-36857117B26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061543" y="2492375"/>
                    <a:ext cx="76320" cy="62280"/>
                  </p14:xfrm>
                </p:contentPart>
              </mc:Choice>
              <mc:Fallback xmlns="">
                <p:pic>
                  <p:nvPicPr>
                    <p:cNvPr id="75" name="Ink 74">
                      <a:extLst>
                        <a:ext uri="{FF2B5EF4-FFF2-40B4-BE49-F238E27FC236}">
                          <a16:creationId xmlns:a16="http://schemas.microsoft.com/office/drawing/2014/main" id="{67B5C94E-2564-6C79-53BB-36857117B264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2055423" y="2486255"/>
                      <a:ext cx="88560" cy="745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0C25E255-8CEF-72D3-8365-3B32CD5556F5}"/>
                      </a:ext>
                    </a:extLst>
                  </p14:cNvPr>
                  <p14:cNvContentPartPr/>
                  <p14:nvPr/>
                </p14:nvContentPartPr>
                <p14:xfrm>
                  <a:off x="9770223" y="2501735"/>
                  <a:ext cx="203040" cy="89100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0C25E255-8CEF-72D3-8365-3B32CD5556F5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9764103" y="2495615"/>
                    <a:ext cx="215280" cy="90324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3EBB424-B49E-32AC-3F4B-C1D646E150A0}"/>
                  </a:ext>
                </a:extLst>
              </p:cNvPr>
              <p:cNvSpPr txBox="1"/>
              <p:nvPr/>
            </p:nvSpPr>
            <p:spPr>
              <a:xfrm>
                <a:off x="8035136" y="2181998"/>
                <a:ext cx="3608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Eric Holscher of Read The Docs fame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33A9A-DDD0-3070-E77F-AC270E41A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DDEF2F-A290-A033-8DCF-FB922E5BB592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31D508-CEA8-60AC-BEF3-2F4B5387F04F}"/>
              </a:ext>
            </a:extLst>
          </p:cNvPr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36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9A60B2E-5814-3D22-9EC6-D0269A998CAC}"/>
              </a:ext>
            </a:extLst>
          </p:cNvPr>
          <p:cNvGrpSpPr/>
          <p:nvPr/>
        </p:nvGrpSpPr>
        <p:grpSpPr>
          <a:xfrm>
            <a:off x="655320" y="4608576"/>
            <a:ext cx="10881360" cy="1097280"/>
            <a:chOff x="640080" y="2560320"/>
            <a:chExt cx="10881360" cy="109728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56AF4D7-CCDD-027B-F526-ACE8F912C49A}"/>
                </a:ext>
              </a:extLst>
            </p:cNvPr>
            <p:cNvSpPr/>
            <p:nvPr/>
          </p:nvSpPr>
          <p:spPr>
            <a:xfrm>
              <a:off x="640080" y="2560320"/>
              <a:ext cx="1920240" cy="10972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193818DC-D4D8-C66D-F51D-3DCD5E582820}"/>
                </a:ext>
              </a:extLst>
            </p:cNvPr>
            <p:cNvSpPr/>
            <p:nvPr/>
          </p:nvSpPr>
          <p:spPr>
            <a:xfrm>
              <a:off x="640080" y="2560320"/>
              <a:ext cx="1920240" cy="10972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E3825B20-D28D-2CF1-7366-4BE8F6544D43}"/>
                </a:ext>
              </a:extLst>
            </p:cNvPr>
            <p:cNvSpPr/>
            <p:nvPr/>
          </p:nvSpPr>
          <p:spPr>
            <a:xfrm>
              <a:off x="731520" y="2788920"/>
              <a:ext cx="1737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llms.txt</a:t>
              </a:r>
              <a:endParaRPr lang="en-US" sz="16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AF55D7B2-7BF5-8B39-8711-52C1A82FE9DD}"/>
                </a:ext>
              </a:extLst>
            </p:cNvPr>
            <p:cNvSpPr/>
            <p:nvPr/>
          </p:nvSpPr>
          <p:spPr>
            <a:xfrm>
              <a:off x="731520" y="3218688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website discoverability</a:t>
              </a:r>
              <a:endParaRPr lang="en-US" sz="110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7AA97DC5-8236-970E-A87D-C36C6978CA74}"/>
                </a:ext>
              </a:extLst>
            </p:cNvPr>
            <p:cNvSpPr/>
            <p:nvPr/>
          </p:nvSpPr>
          <p:spPr>
            <a:xfrm>
              <a:off x="2596896" y="3108960"/>
              <a:ext cx="246888" cy="0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08D9E495-4B21-F449-BFBB-5AE7E74C6F3A}"/>
                </a:ext>
              </a:extLst>
            </p:cNvPr>
            <p:cNvSpPr/>
            <p:nvPr/>
          </p:nvSpPr>
          <p:spPr>
            <a:xfrm>
              <a:off x="2880360" y="2560320"/>
              <a:ext cx="1920240" cy="10972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CB339122-84E7-896B-583B-EA4A1984D5DB}"/>
                </a:ext>
              </a:extLst>
            </p:cNvPr>
            <p:cNvSpPr/>
            <p:nvPr/>
          </p:nvSpPr>
          <p:spPr>
            <a:xfrm>
              <a:off x="2880360" y="2560320"/>
              <a:ext cx="1920240" cy="10972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D98CC5AE-6BB8-6BFC-DEF8-E514B567AAFE}"/>
                </a:ext>
              </a:extLst>
            </p:cNvPr>
            <p:cNvSpPr/>
            <p:nvPr/>
          </p:nvSpPr>
          <p:spPr>
            <a:xfrm>
              <a:off x="2971800" y="2788920"/>
              <a:ext cx="1737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AGENTS.md</a:t>
              </a:r>
              <a:endParaRPr lang="en-US" sz="16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43D11E6F-9678-78FA-870C-081EE4EF34B7}"/>
                </a:ext>
              </a:extLst>
            </p:cNvPr>
            <p:cNvSpPr/>
            <p:nvPr/>
          </p:nvSpPr>
          <p:spPr>
            <a:xfrm>
              <a:off x="2971800" y="3218688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project rules</a:t>
              </a:r>
              <a:endParaRPr lang="en-US" sz="1100" dirty="0"/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70ABA5DD-C9C0-E291-BD43-0676AFFFA00E}"/>
                </a:ext>
              </a:extLst>
            </p:cNvPr>
            <p:cNvSpPr/>
            <p:nvPr/>
          </p:nvSpPr>
          <p:spPr>
            <a:xfrm>
              <a:off x="4837176" y="3108960"/>
              <a:ext cx="246888" cy="0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5974E386-CC07-4CA6-81AB-C81F3BBF5ABC}"/>
                </a:ext>
              </a:extLst>
            </p:cNvPr>
            <p:cNvSpPr/>
            <p:nvPr/>
          </p:nvSpPr>
          <p:spPr>
            <a:xfrm>
              <a:off x="5120640" y="2560320"/>
              <a:ext cx="1920240" cy="10972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C8A97220-639E-678F-5EA7-A7EE16947C4D}"/>
                </a:ext>
              </a:extLst>
            </p:cNvPr>
            <p:cNvSpPr/>
            <p:nvPr/>
          </p:nvSpPr>
          <p:spPr>
            <a:xfrm>
              <a:off x="5120640" y="2560320"/>
              <a:ext cx="1920240" cy="10972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20536B47-F690-99B4-A2A1-EA740453A322}"/>
                </a:ext>
              </a:extLst>
            </p:cNvPr>
            <p:cNvSpPr/>
            <p:nvPr/>
          </p:nvSpPr>
          <p:spPr>
            <a:xfrm>
              <a:off x="5212080" y="2788920"/>
              <a:ext cx="1737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</a:t>
              </a:r>
              <a:endParaRPr lang="en-US" sz="16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48DEC9DF-98AF-7D54-DC1A-725AD6C40FBF}"/>
                </a:ext>
              </a:extLst>
            </p:cNvPr>
            <p:cNvSpPr/>
            <p:nvPr/>
          </p:nvSpPr>
          <p:spPr>
            <a:xfrm>
              <a:off x="5212080" y="3218688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task expertise</a:t>
              </a:r>
              <a:endParaRPr lang="en-US" sz="1100" dirty="0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347C7B4C-03BB-2A55-CB24-F7A82AC2BFD8}"/>
                </a:ext>
              </a:extLst>
            </p:cNvPr>
            <p:cNvSpPr/>
            <p:nvPr/>
          </p:nvSpPr>
          <p:spPr>
            <a:xfrm>
              <a:off x="7077456" y="3108960"/>
              <a:ext cx="246888" cy="0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209AD3B7-7EB6-0FCE-D4DA-51A90240648F}"/>
                </a:ext>
              </a:extLst>
            </p:cNvPr>
            <p:cNvSpPr/>
            <p:nvPr/>
          </p:nvSpPr>
          <p:spPr>
            <a:xfrm>
              <a:off x="7360920" y="2560320"/>
              <a:ext cx="1920240" cy="10972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0A4F690A-8DA6-3940-472D-AC73AD33070D}"/>
                </a:ext>
              </a:extLst>
            </p:cNvPr>
            <p:cNvSpPr/>
            <p:nvPr/>
          </p:nvSpPr>
          <p:spPr>
            <a:xfrm>
              <a:off x="7360920" y="2560320"/>
              <a:ext cx="1920240" cy="10972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7F03259C-8572-C021-2944-D81443C3868A}"/>
                </a:ext>
              </a:extLst>
            </p:cNvPr>
            <p:cNvSpPr/>
            <p:nvPr/>
          </p:nvSpPr>
          <p:spPr>
            <a:xfrm>
              <a:off x="7452360" y="2788920"/>
              <a:ext cx="1737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Hooks</a:t>
              </a:r>
              <a:endParaRPr lang="en-US" sz="16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F018FC7C-B514-9656-8D11-7CFF9EA3ED10}"/>
                </a:ext>
              </a:extLst>
            </p:cNvPr>
            <p:cNvSpPr/>
            <p:nvPr/>
          </p:nvSpPr>
          <p:spPr>
            <a:xfrm>
              <a:off x="7452360" y="3218688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“do this after”</a:t>
              </a:r>
              <a:endParaRPr lang="en-US" sz="11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5DCFE2E2-B2FA-00EC-8878-94E27AE27FA6}"/>
                </a:ext>
              </a:extLst>
            </p:cNvPr>
            <p:cNvSpPr/>
            <p:nvPr/>
          </p:nvSpPr>
          <p:spPr>
            <a:xfrm>
              <a:off x="9317736" y="3108960"/>
              <a:ext cx="246888" cy="0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8E9A4E9A-E523-871E-CD5E-F455D81A8CB5}"/>
                </a:ext>
              </a:extLst>
            </p:cNvPr>
            <p:cNvSpPr/>
            <p:nvPr/>
          </p:nvSpPr>
          <p:spPr>
            <a:xfrm>
              <a:off x="9601200" y="2560320"/>
              <a:ext cx="1920240" cy="10972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F075E151-12DE-96EE-3988-5DC038BA2CB3}"/>
                </a:ext>
              </a:extLst>
            </p:cNvPr>
            <p:cNvSpPr/>
            <p:nvPr/>
          </p:nvSpPr>
          <p:spPr>
            <a:xfrm>
              <a:off x="9601200" y="2560320"/>
              <a:ext cx="1920240" cy="10972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0EBC7C28-1C02-C97E-A916-012ED16AF1B7}"/>
                </a:ext>
              </a:extLst>
            </p:cNvPr>
            <p:cNvSpPr/>
            <p:nvPr/>
          </p:nvSpPr>
          <p:spPr>
            <a:xfrm>
              <a:off x="9692640" y="2788920"/>
              <a:ext cx="1737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Syllago</a:t>
              </a:r>
              <a:endParaRPr lang="en-US" sz="16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2769DD64-263E-0455-DE82-E1C6110FBB07}"/>
                </a:ext>
              </a:extLst>
            </p:cNvPr>
            <p:cNvSpPr/>
            <p:nvPr/>
          </p:nvSpPr>
          <p:spPr>
            <a:xfrm>
              <a:off x="9692640" y="3218688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 config, every tool</a:t>
              </a:r>
              <a:endParaRPr lang="en-US" sz="1100" dirty="0"/>
            </a:p>
          </p:txBody>
        </p:sp>
      </p:grpSp>
      <p:sp>
        <p:nvSpPr>
          <p:cNvPr id="38" name="Text 36">
            <a:extLst>
              <a:ext uri="{FF2B5EF4-FFF2-40B4-BE49-F238E27FC236}">
                <a16:creationId xmlns:a16="http://schemas.microsoft.com/office/drawing/2014/main" id="{0A2C2548-3D67-D13F-733F-288C70AC8B4D}"/>
              </a:ext>
            </a:extLst>
          </p:cNvPr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23</a:t>
            </a:r>
            <a:endParaRPr lang="en-US" sz="1000" dirty="0"/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831F11DE-4ADA-DE1F-F1E5-AD72D0BC82F8}"/>
              </a:ext>
            </a:extLst>
          </p:cNvPr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9E550EF8-AA42-C305-AA7B-ED474344250F}"/>
              </a:ext>
            </a:extLst>
          </p:cNvPr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A PRESENTATION MADE OF SMALLER PIECES</a:t>
            </a:r>
            <a:endParaRPr lang="en-US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AA31B3-DBE8-A9C0-B196-F89A1CC66CFF}"/>
              </a:ext>
            </a:extLst>
          </p:cNvPr>
          <p:cNvSpPr txBox="1"/>
          <p:nvPr/>
        </p:nvSpPr>
        <p:spPr>
          <a:xfrm>
            <a:off x="655320" y="1746165"/>
            <a:ext cx="10881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Your Mileage May Vary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 am not an expert in these topics, I’m just starting to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All topics are relevant to LLM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Below is the order I’ll present them</a:t>
            </a:r>
          </a:p>
        </p:txBody>
      </p:sp>
    </p:spTree>
    <p:extLst>
      <p:ext uri="{BB962C8B-B14F-4D97-AF65-F5344CB8AC3E}">
        <p14:creationId xmlns:p14="http://schemas.microsoft.com/office/powerpoint/2010/main" val="56664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MAKING DOCS LLM-READABLE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4206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91440" cy="4206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hit your site and find a wall of HTML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3611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ads, and scripts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some context window</a:t>
            </a:r>
            <a:endParaRPr lang="en-US" sz="1300" b="1" dirty="0"/>
          </a:p>
        </p:txBody>
      </p:sp>
      <p:sp>
        <p:nvSpPr>
          <p:cNvPr id="12" name="Shape 10"/>
          <p:cNvSpPr/>
          <p:nvPr/>
        </p:nvSpPr>
        <p:spPr>
          <a:xfrm>
            <a:off x="822960" y="42336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8992" y="41148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JavaScript-rendered content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load</a:t>
            </a:r>
            <a:endParaRPr lang="en-US" sz="1300" b="1" dirty="0"/>
          </a:p>
        </p:txBody>
      </p:sp>
      <p:sp>
        <p:nvSpPr>
          <p:cNvPr id="14" name="Shape 12"/>
          <p:cNvSpPr/>
          <p:nvPr/>
        </p:nvSpPr>
        <p:spPr>
          <a:xfrm>
            <a:off x="822960" y="47365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8992" y="46177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about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most important</a:t>
            </a:r>
            <a:endParaRPr lang="en-US" sz="1300" b="1" dirty="0"/>
          </a:p>
        </p:txBody>
      </p:sp>
      <p:sp>
        <p:nvSpPr>
          <p:cNvPr id="16" name="Shape 14"/>
          <p:cNvSpPr/>
          <p:nvPr/>
        </p:nvSpPr>
        <p:spPr>
          <a:xfrm>
            <a:off x="6355080" y="1874520"/>
            <a:ext cx="5257800" cy="42062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1874520"/>
            <a:ext cx="91440" cy="4206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index at /llms.txt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2940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85432" y="3611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 —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parser needed</a:t>
            </a:r>
            <a:endParaRPr lang="en-US" sz="1300" b="1" dirty="0"/>
          </a:p>
        </p:txBody>
      </p:sp>
      <p:sp>
        <p:nvSpPr>
          <p:cNvPr id="22" name="Shape 20"/>
          <p:cNvSpPr/>
          <p:nvPr/>
        </p:nvSpPr>
        <p:spPr>
          <a:xfrm>
            <a:off x="6629400" y="42336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85432" y="41148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the site root,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Google’s robots.txt</a:t>
            </a:r>
            <a:endParaRPr lang="en-US" sz="1300" b="1" dirty="0"/>
          </a:p>
        </p:txBody>
      </p:sp>
      <p:sp>
        <p:nvSpPr>
          <p:cNvPr id="24" name="Shape 22"/>
          <p:cNvSpPr/>
          <p:nvPr/>
        </p:nvSpPr>
        <p:spPr>
          <a:xfrm>
            <a:off x="6629400" y="47365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85432" y="46177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links to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important docs</a:t>
            </a:r>
            <a:endParaRPr lang="en-US" sz="1300" b="1" dirty="0"/>
          </a:p>
        </p:txBody>
      </p:sp>
      <p:sp>
        <p:nvSpPr>
          <p:cNvPr id="26" name="Text 2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LLMS.TXT SYNTAX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3152" cy="4754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/llms.txt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FastAPI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FastAPI is a modern, fast web framework for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building APIs with Python.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standards like OpenAPI and JSON Schema.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Docs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[Tutorial](https://fastapi.tiangolo.com/tutorial/): start here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[API reference](https://fastapi.tiangolo.com/reference/): full surface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Examples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[Full-stack template](https://github.com/.../template)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Optional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[Advanced guide](https://fastapi.tiangolo.com/advanced/)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011680"/>
            <a:ext cx="16459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2468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name. The only required field.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3383280"/>
            <a:ext cx="16459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096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blockquote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3840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summary.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4754880"/>
            <a:ext cx="16459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5212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your links. "Optional" can be skipped.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23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A6584E-BDB4-325C-E993-FB76270EA301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https://llmstxt.org/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an 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LLMS.TXT PROCEDURE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5730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5730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7150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150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markdown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6042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3766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3766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4518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5186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/llms.txt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078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1802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180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3222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3222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docs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2114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9838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9838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21258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1258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/llms-full.txt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ask your LLM to summarize the project using just the /llms.txt URL.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5513-3786-B42A-B94A-D5B03F0C2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6EBE38-85A6-11D7-FB54-9549B374053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B21939-7EE3-E723-36B1-2F553C670A56}"/>
              </a:ext>
            </a:extLst>
          </p:cNvPr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 of using llms.txt</a:t>
            </a:r>
            <a:endParaRPr lang="en-US" sz="3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30D4A7-1992-0BEE-CD6D-E39444A96636}"/>
              </a:ext>
            </a:extLst>
          </p:cNvPr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23</a:t>
            </a:r>
            <a:endParaRPr lang="en-US" sz="1000" dirty="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1631D599-DCEA-4943-0400-CBBCFB6051A6}"/>
              </a:ext>
            </a:extLst>
          </p:cNvPr>
          <p:cNvSpPr/>
          <p:nvPr/>
        </p:nvSpPr>
        <p:spPr>
          <a:xfrm>
            <a:off x="3215286" y="1152142"/>
            <a:ext cx="73152" cy="529437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F055DF1-B078-52F3-747A-1DCC4FC4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3" t="1554" r="2407" b="865"/>
          <a:stretch>
            <a:fillRect/>
          </a:stretch>
        </p:blipFill>
        <p:spPr>
          <a:xfrm>
            <a:off x="3288438" y="1152143"/>
            <a:ext cx="6005267" cy="5294373"/>
          </a:xfrm>
          <a:prstGeom prst="rect">
            <a:avLst/>
          </a:prstGeom>
        </p:spPr>
      </p:pic>
      <p:sp>
        <p:nvSpPr>
          <p:cNvPr id="36" name="Shape 2">
            <a:extLst>
              <a:ext uri="{FF2B5EF4-FFF2-40B4-BE49-F238E27FC236}">
                <a16:creationId xmlns:a16="http://schemas.microsoft.com/office/drawing/2014/main" id="{AE07C079-43FB-F5B8-84F2-124ECD37DC2F}"/>
              </a:ext>
            </a:extLst>
          </p:cNvPr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B7F637B8-F491-D05D-87CA-D2A43AF28A4C}"/>
              </a:ext>
            </a:extLst>
          </p:cNvPr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LLMS.TXT EXAMPLE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5048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D49C-AF17-4945-6F66-A0CCAA65A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7A4D47-2114-B07D-2200-39F9E0E06EFD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B9502B-6BC7-8B2B-4B8F-5BFD429B225E}"/>
              </a:ext>
            </a:extLst>
          </p:cNvPr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 llms.txt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526926-DF4E-0204-C3FC-4AAD7E491A3D}"/>
              </a:ext>
            </a:extLst>
          </p:cNvPr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600A0FD-6533-2079-83C8-602FFB92EB93}"/>
              </a:ext>
            </a:extLst>
          </p:cNvPr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LLMS.TXT TEST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1B758DE-9D7B-4B5B-3663-2B293A3D34FA}"/>
              </a:ext>
            </a:extLst>
          </p:cNvPr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23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E119D43-462B-6FA9-3345-5617DAA11D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" r="8480" b="56710"/>
          <a:stretch>
            <a:fillRect/>
          </a:stretch>
        </p:blipFill>
        <p:spPr>
          <a:xfrm>
            <a:off x="621792" y="2263379"/>
            <a:ext cx="5474208" cy="344247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D63DE24-85FA-5B7C-B2D6-2844B69B00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964"/>
          <a:stretch>
            <a:fillRect/>
          </a:stretch>
        </p:blipFill>
        <p:spPr>
          <a:xfrm>
            <a:off x="6491210" y="2263379"/>
            <a:ext cx="4847349" cy="3442474"/>
          </a:xfrm>
          <a:prstGeom prst="rect">
            <a:avLst/>
          </a:prstGeom>
        </p:spPr>
      </p:pic>
      <p:sp>
        <p:nvSpPr>
          <p:cNvPr id="32" name="Shape 5">
            <a:extLst>
              <a:ext uri="{FF2B5EF4-FFF2-40B4-BE49-F238E27FC236}">
                <a16:creationId xmlns:a16="http://schemas.microsoft.com/office/drawing/2014/main" id="{D10D2DDE-F678-3673-01A0-2A1FA2B475E6}"/>
              </a:ext>
            </a:extLst>
          </p:cNvPr>
          <p:cNvSpPr/>
          <p:nvPr/>
        </p:nvSpPr>
        <p:spPr>
          <a:xfrm>
            <a:off x="548640" y="2263378"/>
            <a:ext cx="73152" cy="344247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1CCCCA3D-B7FA-38D0-1487-2322CF9EDD8F}"/>
              </a:ext>
            </a:extLst>
          </p:cNvPr>
          <p:cNvSpPr/>
          <p:nvPr/>
        </p:nvSpPr>
        <p:spPr>
          <a:xfrm>
            <a:off x="6418058" y="2263380"/>
            <a:ext cx="73152" cy="344247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5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 README FOR YOUR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markdown file at your repo root that tells the agent how this project works.</a:t>
            </a:r>
          </a:p>
          <a:p>
            <a:pPr marL="0" indent="0">
              <a:buNone/>
            </a:pPr>
            <a:endParaRPr lang="en-US" sz="1700" i="1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 include:</a:t>
            </a:r>
            <a:endParaRPr lang="en-US" sz="1700" b="1" dirty="0"/>
          </a:p>
        </p:txBody>
      </p:sp>
      <p:sp>
        <p:nvSpPr>
          <p:cNvPr id="7" name="Shape 5"/>
          <p:cNvSpPr/>
          <p:nvPr/>
        </p:nvSpPr>
        <p:spPr>
          <a:xfrm>
            <a:off x="411480" y="26517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concisely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6517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51960" y="26517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commands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valid commands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26517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92440" y="26517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6676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 guidelines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language, formatter, and/or linting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44805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44805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instructions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to test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51960" y="44805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51960" y="44805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considerations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2628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and/or enforce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92440" y="44805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92440" y="44805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6676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“Don’t”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6676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things not to do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AGENTS.md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AGENTS.MD SYNTAX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68096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" cy="4663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1892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7223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 Guide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Setup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Install: `pnpm install`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Dev server: `pnpm dev`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Testing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 all tests: `pnpm test`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 one: `pnpm test -- path/to/file`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run tests before opening a PR.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Code style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TypeScript strict mode is on. Don't disable it.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Prefer named exports; default exports only for pages.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Commit format: `type(scope): subject`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Branch naming: `feature/&lt;short-name&gt;`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Don't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edit files in `vendor/` or `dist/`.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add new dependencies without raising it first.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0392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hire's first day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3920" y="32004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answers a question someone joining the project would ask.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687AA-88ED-5032-8216-20CE3D95EA9D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https://agents.md/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one your agent will actually follow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AGENTS.MD ADVICE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606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are better than goals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68096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boring stuff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0" y="2606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names, commit format, and what not to touch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92024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living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20240" y="4846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it when conventions change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09360" y="406908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768096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0" y="4846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screen’s worth of text, not five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8794D-CAAD-E304-24EB-59F6B606D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41DAB2-71A4-3063-801A-0FF2B6E560A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71B729-F7FB-0540-5347-62E1C4EED410}"/>
              </a:ext>
            </a:extLst>
          </p:cNvPr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405BD3-C2C8-9D16-B81D-B659155EF059}"/>
              </a:ext>
            </a:extLst>
          </p:cNvPr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784067-F1E6-8DE5-1CCD-4B4A67432A29}"/>
              </a:ext>
            </a:extLst>
          </p:cNvPr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 REAL EXAMPLE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911F6D-A097-F8B6-32FF-C6795078EC03}"/>
              </a:ext>
            </a:extLst>
          </p:cNvPr>
          <p:cNvSpPr/>
          <p:nvPr/>
        </p:nvSpPr>
        <p:spPr>
          <a:xfrm>
            <a:off x="804672" y="1691639"/>
            <a:ext cx="10808208" cy="424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my XNAT to BIDS CLI project, I decided to test this out.</a:t>
            </a:r>
          </a:p>
          <a:p>
            <a:pPr marL="0" indent="0">
              <a:buNone/>
            </a:pPr>
            <a:endParaRPr lang="en-US" sz="24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generic AGENTS.md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https://github.com/nimh-dsst/xnat-bids-cli/blob/main/AGENTS.md</a:t>
            </a:r>
            <a:endParaRPr lang="en-US" sz="24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24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specific CLAUDE.md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https://github.com/nimh-dsst/xnat-bids-cli/blob/main/.claude/CLAUDE.md</a:t>
            </a:r>
            <a:endParaRPr lang="en-US" sz="24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300272D-F5A8-9B1F-2519-9DF06DC7C703}"/>
              </a:ext>
            </a:extLst>
          </p:cNvPr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75410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REUSABLE AGENT CAPABILITIES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instructions and examples the agent loads on demand — task-scoped expertise, not always-on rules.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VS RULES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154680"/>
          <a:ext cx="9235440" cy="2880360"/>
        </p:xfrm>
        <a:graphic>
          <a:graphicData uri="http://schemas.openxmlformats.org/drawingml/2006/table">
            <a:tbl>
              <a:tblPr/>
              <a:tblGrid>
                <a:gridCol w="230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3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(AGENTS.md)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Project-wide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Task-scoped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loaded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by 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.md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+ SKILL.md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capabilities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SKILLS SYNTAX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LAYOUT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938424" cy="1965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73152" cy="196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0" y="23042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60781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skill-name/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SKILL.md     # Required: metadata + instructions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scripts/     # Optional: executable 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references/  # Optional: documentation</a:t>
            </a:r>
          </a:p>
          <a:p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assets/      # Optional: templates, resources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...          # Any additional files or directories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“skill-name” is the skill. SKILL.md is the entry point.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00986" y="1783080"/>
            <a:ext cx="4136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SKILL.MD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00986" y="2194560"/>
            <a:ext cx="4503334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00986" y="2194560"/>
            <a:ext cx="73152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41280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68126" y="2423160"/>
            <a:ext cx="395331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fill-pdf-forms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Use when the user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wants to fill in a PDF form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existing field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a CSV input.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 PDF Forms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use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 uploads a PDF form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 provides field values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Inspect fields: `fill_form.py inspect`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Fill with provided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Save to outputs/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61C49C-548A-688F-8FA1-D2DF11AD783B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https://agentskills.io/specification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SKILLS ADVICE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9933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narrow capability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35915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fine-grained than a category.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906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description as a trigger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4564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"Use when…"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1879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do / don't examples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55371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shape, don't just describe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2852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565099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agent a real task.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2011680"/>
            <a:ext cx="4389120" cy="4206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0" y="2011680"/>
            <a:ext cx="43891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Do This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89520" y="3383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"general-utilities" — description: "Use for various helpful tasks."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4937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broad to trigger reliably. Split into more fine-grained skills.</a:t>
            </a:r>
          </a:p>
          <a:p>
            <a:pPr marL="0" indent="0">
              <a:buNone/>
            </a:pPr>
            <a:endParaRPr lang="en-US" sz="1400" b="1" i="1" dirty="0">
              <a:solidFill>
                <a:srgbClr val="DC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Unix philosophy, “Do One Thing and Do It Well”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A4249-B015-D9D4-4AAE-CB3B661C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6CDC4C-D193-173B-8613-E8596CE3BEB6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F469A0-3640-D82E-8FA2-95BA91987053}"/>
              </a:ext>
            </a:extLst>
          </p:cNvPr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a Skill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675FD2-5033-3FDA-4336-166BA6FB45AF}"/>
              </a:ext>
            </a:extLst>
          </p:cNvPr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4A0092-76BC-8F5F-D4B9-7CFC190AAD52}"/>
              </a:ext>
            </a:extLst>
          </p:cNvPr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SKILLS EXAMPLE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96703C-5BD2-2DA1-AE49-A5EA76A1D5DF}"/>
              </a:ext>
            </a:extLst>
          </p:cNvPr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19C8EC-C045-8E9F-CFA2-15B188AB37E5}"/>
              </a:ext>
            </a:extLst>
          </p:cNvPr>
          <p:cNvSpPr txBox="1"/>
          <p:nvPr/>
        </p:nvSpPr>
        <p:spPr>
          <a:xfrm>
            <a:off x="396240" y="5504688"/>
            <a:ext cx="8353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https://github.com/Ascom11/fmriprep-skills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https://neurostars.org/t/ive-written-fmriprep-skills-a-lightweight-harness-to-help-beginners-use-fmriprep-more-easily/36210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EB5CD63-81F4-1A92-F2BD-A679D9D51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615982"/>
            <a:ext cx="8572941" cy="362603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3BDCCC6-BF14-BE04-CFFA-B87FB744E9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511" y="3104265"/>
            <a:ext cx="6794849" cy="240042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7533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LIFECYCLE EVENTS FOR CLAUDE AGENTS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1542247"/>
            <a:ext cx="1080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i="1" dirty="0"/>
              <a:t>Hooks let you run shell commands automatically before or after specific agent actions. They’re defined in </a:t>
            </a:r>
            <a:r>
              <a:rPr lang="en-US" b="1" i="1" dirty="0"/>
              <a:t>.</a:t>
            </a:r>
            <a:r>
              <a:rPr lang="en-US" b="1" i="1" dirty="0" err="1"/>
              <a:t>claude</a:t>
            </a:r>
            <a:r>
              <a:rPr lang="en-US" b="1" i="1" dirty="0"/>
              <a:t>/</a:t>
            </a:r>
            <a:r>
              <a:rPr lang="en-US" b="1" i="1" dirty="0" err="1"/>
              <a:t>settings.json</a:t>
            </a:r>
            <a:r>
              <a:rPr lang="en-US" i="1" dirty="0"/>
              <a:t>, at your project root, or in your global Claude Code settings.</a:t>
            </a:r>
            <a:endParaRPr lang="en-US" sz="1700" i="1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DA0536A-97D7-884C-1EBE-88F65CF47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63" y="2252390"/>
            <a:ext cx="6642441" cy="4064209"/>
          </a:xfrm>
          <a:prstGeom prst="rect">
            <a:avLst/>
          </a:prstGeom>
        </p:spPr>
      </p:pic>
      <p:sp>
        <p:nvSpPr>
          <p:cNvPr id="30" name="Shape 5">
            <a:extLst>
              <a:ext uri="{FF2B5EF4-FFF2-40B4-BE49-F238E27FC236}">
                <a16:creationId xmlns:a16="http://schemas.microsoft.com/office/drawing/2014/main" id="{0727FC9F-94B2-F9A1-0965-C5DB0A5595CB}"/>
              </a:ext>
            </a:extLst>
          </p:cNvPr>
          <p:cNvSpPr/>
          <p:nvPr/>
        </p:nvSpPr>
        <p:spPr>
          <a:xfrm>
            <a:off x="804672" y="2252391"/>
            <a:ext cx="101791" cy="406420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239930-AFF9-AD53-FB66-D7BADBD2D203}"/>
              </a:ext>
            </a:extLst>
          </p:cNvPr>
          <p:cNvSpPr txBox="1"/>
          <p:nvPr/>
        </p:nvSpPr>
        <p:spPr>
          <a:xfrm>
            <a:off x="396240" y="6490454"/>
            <a:ext cx="1080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https://sagol-python-for-neuroscientists.github.io/textbook-public/classes/class_4/class_4.html</a:t>
            </a:r>
            <a:r>
              <a:rPr lang="en-US" dirty="0"/>
              <a:t> </a:t>
            </a:r>
          </a:p>
        </p:txBody>
      </p:sp>
      <p:sp>
        <p:nvSpPr>
          <p:cNvPr id="32" name="Text 8"/>
          <p:cNvSpPr/>
          <p:nvPr/>
        </p:nvSpPr>
        <p:spPr>
          <a:xfrm>
            <a:off x="8870141" y="2157494"/>
            <a:ext cx="2415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WORKFLOW</a:t>
            </a:r>
            <a:endParaRPr lang="en-US" sz="1000" dirty="0"/>
          </a:p>
        </p:txBody>
      </p:sp>
      <p:sp>
        <p:nvSpPr>
          <p:cNvPr id="33" name="Shape 9"/>
          <p:cNvSpPr/>
          <p:nvPr/>
        </p:nvSpPr>
        <p:spPr>
          <a:xfrm>
            <a:off x="8870141" y="256897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0"/>
          <p:cNvSpPr/>
          <p:nvPr/>
        </p:nvSpPr>
        <p:spPr>
          <a:xfrm>
            <a:off x="8870141" y="256897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11"/>
          <p:cNvSpPr/>
          <p:nvPr/>
        </p:nvSpPr>
        <p:spPr>
          <a:xfrm>
            <a:off x="9418781" y="2568974"/>
            <a:ext cx="1866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script</a:t>
            </a:r>
            <a:endParaRPr lang="en-US" sz="1300" dirty="0"/>
          </a:p>
        </p:txBody>
      </p:sp>
      <p:sp>
        <p:nvSpPr>
          <p:cNvPr id="36" name="Text 12"/>
          <p:cNvSpPr/>
          <p:nvPr/>
        </p:nvSpPr>
        <p:spPr>
          <a:xfrm>
            <a:off x="9418781" y="2889014"/>
            <a:ext cx="1866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executable</a:t>
            </a:r>
            <a:endParaRPr lang="en-US" sz="1100" dirty="0"/>
          </a:p>
        </p:txBody>
      </p:sp>
      <p:sp>
        <p:nvSpPr>
          <p:cNvPr id="37" name="Shape 13"/>
          <p:cNvSpPr/>
          <p:nvPr/>
        </p:nvSpPr>
        <p:spPr>
          <a:xfrm>
            <a:off x="8870141" y="357481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4"/>
          <p:cNvSpPr/>
          <p:nvPr/>
        </p:nvSpPr>
        <p:spPr>
          <a:xfrm>
            <a:off x="8870141" y="357481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15"/>
          <p:cNvSpPr/>
          <p:nvPr/>
        </p:nvSpPr>
        <p:spPr>
          <a:xfrm>
            <a:off x="9418781" y="3574814"/>
            <a:ext cx="1866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executable</a:t>
            </a:r>
            <a:endParaRPr lang="en-US" sz="1300" dirty="0"/>
          </a:p>
        </p:txBody>
      </p:sp>
      <p:sp>
        <p:nvSpPr>
          <p:cNvPr id="40" name="Text 16"/>
          <p:cNvSpPr/>
          <p:nvPr/>
        </p:nvSpPr>
        <p:spPr>
          <a:xfrm>
            <a:off x="9418781" y="3894854"/>
            <a:ext cx="1866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+x</a:t>
            </a:r>
            <a:endParaRPr lang="en-US" sz="1100" dirty="0"/>
          </a:p>
        </p:txBody>
      </p:sp>
      <p:sp>
        <p:nvSpPr>
          <p:cNvPr id="41" name="Shape 17"/>
          <p:cNvSpPr/>
          <p:nvPr/>
        </p:nvSpPr>
        <p:spPr>
          <a:xfrm>
            <a:off x="8870141" y="458065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8"/>
          <p:cNvSpPr/>
          <p:nvPr/>
        </p:nvSpPr>
        <p:spPr>
          <a:xfrm>
            <a:off x="8870141" y="458065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19"/>
          <p:cNvSpPr/>
          <p:nvPr/>
        </p:nvSpPr>
        <p:spPr>
          <a:xfrm>
            <a:off x="9418781" y="4580654"/>
            <a:ext cx="1866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 settings.json</a:t>
            </a:r>
            <a:endParaRPr lang="en-US" sz="1300" dirty="0"/>
          </a:p>
        </p:txBody>
      </p:sp>
      <p:sp>
        <p:nvSpPr>
          <p:cNvPr id="44" name="Text 20"/>
          <p:cNvSpPr/>
          <p:nvPr/>
        </p:nvSpPr>
        <p:spPr>
          <a:xfrm>
            <a:off x="9418781" y="4900694"/>
            <a:ext cx="1866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by tool name</a:t>
            </a:r>
            <a:endParaRPr lang="en-US" sz="1100" dirty="0"/>
          </a:p>
        </p:txBody>
      </p:sp>
      <p:sp>
        <p:nvSpPr>
          <p:cNvPr id="45" name="Shape 21"/>
          <p:cNvSpPr/>
          <p:nvPr/>
        </p:nvSpPr>
        <p:spPr>
          <a:xfrm>
            <a:off x="8870141" y="558649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2"/>
          <p:cNvSpPr/>
          <p:nvPr/>
        </p:nvSpPr>
        <p:spPr>
          <a:xfrm>
            <a:off x="8870141" y="558649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23"/>
          <p:cNvSpPr/>
          <p:nvPr/>
        </p:nvSpPr>
        <p:spPr>
          <a:xfrm>
            <a:off x="9418781" y="5586494"/>
            <a:ext cx="1866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agent</a:t>
            </a:r>
            <a:endParaRPr lang="en-US" sz="1300" dirty="0"/>
          </a:p>
        </p:txBody>
      </p:sp>
      <p:sp>
        <p:nvSpPr>
          <p:cNvPr id="48" name="Text 24"/>
          <p:cNvSpPr/>
          <p:nvPr/>
        </p:nvSpPr>
        <p:spPr>
          <a:xfrm>
            <a:off x="9418781" y="5906534"/>
            <a:ext cx="1866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load at start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hooks fire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HOOKS (EXAMPLE DEFINITIONS)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2011680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00200" y="20116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UserPromptSubmit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20116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just sent a message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2670048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2670048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00200" y="26700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670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 about to call a tool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3328416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71600" y="3328416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00200" y="33284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0" y="332841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just returned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" y="3986784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71600" y="3986784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00200" y="39867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398678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notification fires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371600" y="4645152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4645152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00200" y="46451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0" y="46451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finished its turn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1600" y="5303520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371600" y="5303520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600200" y="53035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PreCompact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0" y="530352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to be compacted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B2A5EC-C936-B606-9C35-FF7D4F98CE37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https://code.claude.com/docs/en/hooks-guide#how-hooks-work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hook examples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HOOK EXAMPLES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39" y="1783080"/>
            <a:ext cx="101791" cy="3886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7466BB9-7E30-BD19-A75E-22CC1CD05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30" y="1783080"/>
            <a:ext cx="7270955" cy="3886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0F9EF26-BC19-26A2-E9F8-FDF773AE2A4E}"/>
              </a:ext>
            </a:extLst>
          </p:cNvPr>
          <p:cNvSpPr txBox="1"/>
          <p:nvPr/>
        </p:nvSpPr>
        <p:spPr>
          <a:xfrm>
            <a:off x="396240" y="6490454"/>
            <a:ext cx="1080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https://sagol-python-for-neuroscientists.github.io/textbook-public/classes/class_4/class_4.html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IS SYLLAGO?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4389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91440" cy="4389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speaks its own format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skill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rule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Windsurf 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Windsurf rule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Kiro steering 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same rule in five places? No thanks.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1874520"/>
            <a:ext cx="5257800" cy="438912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1874520"/>
            <a:ext cx="91440" cy="4389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940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deploy everywhere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62940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85432" y="36118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rules, skills, and hooks once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42793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85432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translate to each provider's format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482803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85432" y="47091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“registries” publish standards via git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29400" y="53766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85432" y="5257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“Loadouts” bundle configs as apply-as-a-unit kits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common </a:t>
            </a:r>
            <a:r>
              <a:rPr lang="en-US" sz="36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patterns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SYLLAGO COMMANDS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init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Syllago into a project.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8096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existing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75120" y="265176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75120" y="265176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2280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add rules --from claude-code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what you already have.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Cross-install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512064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12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install my-rule --to cursor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760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conversion runs automatically.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25196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425196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7512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68096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team standards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75120" y="512064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75120" y="512064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1228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registry sync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5760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truth, via git.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108CC5-B83F-6D72-7E9B-BD0365CC7AFC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https://syllago.dev/getting-started/quick-start/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2AFBD-7715-035A-4B29-DDD1206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1C2D62-02E6-7E8C-8716-F2972CB391EC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69D14F-B3D3-3B38-DE7A-50F552BA7800}"/>
              </a:ext>
            </a:extLst>
          </p:cNvPr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demonstration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6F5209-5CE8-877A-F394-28C0165B87CA}"/>
              </a:ext>
            </a:extLst>
          </p:cNvPr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7B5D148-9484-F3CE-8985-1409AB911316}"/>
              </a:ext>
            </a:extLst>
          </p:cNvPr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SYLLAGO DEMO</a:t>
            </a:r>
            <a:endParaRPr lang="en-US" sz="11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A5F7082-07F8-6E8E-979D-6C90B179B82D}"/>
              </a:ext>
            </a:extLst>
          </p:cNvPr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8F8F9B-DE8B-EA71-6643-C1334907533E}"/>
              </a:ext>
            </a:extLst>
          </p:cNvPr>
          <p:cNvSpPr txBox="1"/>
          <p:nvPr/>
        </p:nvSpPr>
        <p:spPr>
          <a:xfrm>
            <a:off x="396240" y="5451720"/>
            <a:ext cx="8353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https://syllago.dev/using-syllago/tui/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https://syllago.dev/using-syllago/collections/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https://crossaitools.com/skills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12C9C7DE-D817-9717-F011-F0E1CA1B68C7}"/>
              </a:ext>
            </a:extLst>
          </p:cNvPr>
          <p:cNvSpPr/>
          <p:nvPr/>
        </p:nvSpPr>
        <p:spPr>
          <a:xfrm>
            <a:off x="548640" y="1353312"/>
            <a:ext cx="11064240" cy="409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AHEAD</a:t>
            </a:r>
          </a:p>
          <a:p>
            <a:pPr marL="0" indent="0" algn="ctr">
              <a:buNone/>
            </a:pPr>
            <a:r>
              <a:rPr lang="en-US" sz="3200" dirty="0"/>
              <a:t>What could possibly go wrong?</a:t>
            </a:r>
          </a:p>
          <a:p>
            <a:pPr marL="0" indent="0" algn="ctr">
              <a:buNone/>
            </a:pPr>
            <a:endParaRPr lang="en-US" sz="3200" dirty="0"/>
          </a:p>
          <a:p>
            <a:pPr lvl="3"/>
            <a:r>
              <a:rPr lang="en-US" b="1" dirty="0" err="1"/>
              <a:t>Syllago</a:t>
            </a:r>
            <a:r>
              <a:rPr lang="en-US" b="1" dirty="0"/>
              <a:t> </a:t>
            </a:r>
            <a:r>
              <a:rPr lang="en-US" dirty="0"/>
              <a:t>organizes content into three collection types:</a:t>
            </a:r>
          </a:p>
          <a:p>
            <a:pPr marL="2171700" lvl="4" indent="-342900">
              <a:buFont typeface="+mj-lt"/>
              <a:buAutoNum type="arabicPeriod"/>
            </a:pPr>
            <a:r>
              <a:rPr lang="en-US" b="1" dirty="0"/>
              <a:t>Library</a:t>
            </a:r>
            <a:r>
              <a:rPr lang="en-US" dirty="0"/>
              <a:t> holds content you own and manage directly.</a:t>
            </a:r>
          </a:p>
          <a:p>
            <a:pPr marL="2171700" lvl="4" indent="-342900">
              <a:buFont typeface="+mj-lt"/>
              <a:buAutoNum type="arabicPeriod"/>
            </a:pPr>
            <a:r>
              <a:rPr lang="en-US" b="1" dirty="0"/>
              <a:t>Registries</a:t>
            </a:r>
            <a:r>
              <a:rPr lang="en-US" dirty="0"/>
              <a:t> connect you to shared content from teams or the community.</a:t>
            </a:r>
          </a:p>
          <a:p>
            <a:pPr marL="2171700" lvl="4" indent="-342900">
              <a:buFont typeface="+mj-lt"/>
              <a:buAutoNum type="arabicPeriod"/>
            </a:pPr>
            <a:r>
              <a:rPr lang="en-US" b="1" dirty="0"/>
              <a:t>Loadouts</a:t>
            </a:r>
            <a:r>
              <a:rPr lang="en-US" dirty="0"/>
              <a:t> bundle content together so you can apply entire configurations at once.</a:t>
            </a:r>
          </a:p>
        </p:txBody>
      </p:sp>
    </p:spTree>
    <p:extLst>
      <p:ext uri="{BB962C8B-B14F-4D97-AF65-F5344CB8AC3E}">
        <p14:creationId xmlns:p14="http://schemas.microsoft.com/office/powerpoint/2010/main" val="1832800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TALKED ABOUT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1920240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llms.txt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Markdown at your site root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80160" y="2633472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6334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5877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Rules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Markdown at your repo root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280160" y="3346704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0" y="33467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3009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Markdown with YAML front-matter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01421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280160" y="4059936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0" y="40599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401421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Claude settings JSON config file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72744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280160" y="4773168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71600" y="4773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0" y="472744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Git-backed, registry-published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2653</TotalTime>
  <Words>1829</Words>
  <Application>Microsoft Office PowerPoint</Application>
  <PresentationFormat>Widescreen</PresentationFormat>
  <Paragraphs>391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Configuring AI Coding Agents</dc:title>
  <dc:subject>PptxGenJS Presentation</dc:subject>
  <dc:creator>—</dc:creator>
  <cp:lastModifiedBy>Eric Earl (NIH/NIMH) [C]</cp:lastModifiedBy>
  <cp:revision>7</cp:revision>
  <dcterms:created xsi:type="dcterms:W3CDTF">2026-05-12T16:56:23Z</dcterms:created>
  <dcterms:modified xsi:type="dcterms:W3CDTF">2026-06-30T12:54:08Z</dcterms:modified>
</cp:coreProperties>
</file>